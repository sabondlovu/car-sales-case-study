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1"/>
  </p:normalViewPr>
  <p:slideViewPr>
    <p:cSldViewPr snapToGrid="0">
      <p:cViewPr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34BF71-82D9-4A58-88C2-B804CD9D176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90000B-341C-4B8F-A1BD-BAFBD9B47838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 dirty="0"/>
            <a:t>High Margin Tier (&gt;10%):</a:t>
          </a:r>
          <a:r>
            <a:rPr lang="en-ZA" dirty="0"/>
            <a:t> These vehicles are our most efficient assets and should be the focus of inventory expansion.</a:t>
          </a:r>
          <a:endParaRPr lang="en-US" dirty="0"/>
        </a:p>
      </dgm:t>
    </dgm:pt>
    <dgm:pt modelId="{53ECE007-F245-4BA5-8D19-1A987FE8DB0A}" type="parTrans" cxnId="{01530280-C882-465C-A6B8-693E51367F44}">
      <dgm:prSet/>
      <dgm:spPr/>
      <dgm:t>
        <a:bodyPr/>
        <a:lstStyle/>
        <a:p>
          <a:endParaRPr lang="en-US"/>
        </a:p>
      </dgm:t>
    </dgm:pt>
    <dgm:pt modelId="{6EA0FCDD-557E-4225-B702-4080822FBBCE}" type="sibTrans" cxnId="{01530280-C882-465C-A6B8-693E51367F44}">
      <dgm:prSet/>
      <dgm:spPr/>
      <dgm:t>
        <a:bodyPr/>
        <a:lstStyle/>
        <a:p>
          <a:endParaRPr lang="en-US"/>
        </a:p>
      </dgm:t>
    </dgm:pt>
    <dgm:pt modelId="{746B9AF6-1FCD-4733-BDBD-E62C25F1AB54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b="1" dirty="0"/>
            <a:t>Low Margin Tier (&lt;5%):</a:t>
          </a:r>
          <a:r>
            <a:rPr lang="en-ZA" dirty="0"/>
            <a:t> Requires optimized pricing or promotional strategies to increase turnover and clear storage space.</a:t>
          </a:r>
          <a:endParaRPr lang="en-US" dirty="0"/>
        </a:p>
      </dgm:t>
    </dgm:pt>
    <dgm:pt modelId="{4921F3F7-9766-47F3-8D2D-7C0C9D163255}" type="parTrans" cxnId="{D33BD30E-E29A-4324-A7B0-38F51BE6DE75}">
      <dgm:prSet/>
      <dgm:spPr/>
      <dgm:t>
        <a:bodyPr/>
        <a:lstStyle/>
        <a:p>
          <a:endParaRPr lang="en-US"/>
        </a:p>
      </dgm:t>
    </dgm:pt>
    <dgm:pt modelId="{156CF011-30C5-4419-9546-D8E787E00AB7}" type="sibTrans" cxnId="{D33BD30E-E29A-4324-A7B0-38F51BE6DE75}">
      <dgm:prSet/>
      <dgm:spPr/>
      <dgm:t>
        <a:bodyPr/>
        <a:lstStyle/>
        <a:p>
          <a:endParaRPr lang="en-US"/>
        </a:p>
      </dgm:t>
    </dgm:pt>
    <dgm:pt modelId="{7F539A9D-ADD5-45F2-9117-1DC35C8E56D1}" type="pres">
      <dgm:prSet presAssocID="{7F34BF71-82D9-4A58-88C2-B804CD9D176D}" presName="root" presStyleCnt="0">
        <dgm:presLayoutVars>
          <dgm:dir/>
          <dgm:resizeHandles val="exact"/>
        </dgm:presLayoutVars>
      </dgm:prSet>
      <dgm:spPr/>
    </dgm:pt>
    <dgm:pt modelId="{EB2BBD9B-647D-42C0-A3C5-8CF47A892096}" type="pres">
      <dgm:prSet presAssocID="{8A90000B-341C-4B8F-A1BD-BAFBD9B47838}" presName="compNode" presStyleCnt="0"/>
      <dgm:spPr/>
    </dgm:pt>
    <dgm:pt modelId="{5F617EF7-E87B-4813-B6FF-D735A8B9914D}" type="pres">
      <dgm:prSet presAssocID="{8A90000B-341C-4B8F-A1BD-BAFBD9B4783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2805422B-6107-4972-827F-81C427BB3FB3}" type="pres">
      <dgm:prSet presAssocID="{8A90000B-341C-4B8F-A1BD-BAFBD9B47838}" presName="spaceRect" presStyleCnt="0"/>
      <dgm:spPr/>
    </dgm:pt>
    <dgm:pt modelId="{102F96E1-3DFC-49FC-8043-06EC04130972}" type="pres">
      <dgm:prSet presAssocID="{8A90000B-341C-4B8F-A1BD-BAFBD9B47838}" presName="textRect" presStyleLbl="revTx" presStyleIdx="0" presStyleCnt="2" custScaleY="102990" custLinFactNeighborX="-1861" custLinFactNeighborY="-8907">
        <dgm:presLayoutVars>
          <dgm:chMax val="1"/>
          <dgm:chPref val="1"/>
        </dgm:presLayoutVars>
      </dgm:prSet>
      <dgm:spPr/>
    </dgm:pt>
    <dgm:pt modelId="{7D7A69A1-C3C2-4B26-9424-446AADD78F08}" type="pres">
      <dgm:prSet presAssocID="{6EA0FCDD-557E-4225-B702-4080822FBBCE}" presName="sibTrans" presStyleCnt="0"/>
      <dgm:spPr/>
    </dgm:pt>
    <dgm:pt modelId="{ADB02034-41BC-4D7E-8104-860F3F9FAB58}" type="pres">
      <dgm:prSet presAssocID="{746B9AF6-1FCD-4733-BDBD-E62C25F1AB54}" presName="compNode" presStyleCnt="0"/>
      <dgm:spPr/>
    </dgm:pt>
    <dgm:pt modelId="{8FBDDF9D-4586-4A99-945C-91927CD48D57}" type="pres">
      <dgm:prSet presAssocID="{746B9AF6-1FCD-4733-BDBD-E62C25F1AB54}" presName="iconRect" presStyleLbl="node1" presStyleIdx="1" presStyleCnt="2" custLinFactNeighborX="-47147" custLinFactNeighborY="654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0AA234B-7FEC-4654-B66B-FB10E83D5FCD}" type="pres">
      <dgm:prSet presAssocID="{746B9AF6-1FCD-4733-BDBD-E62C25F1AB54}" presName="spaceRect" presStyleCnt="0"/>
      <dgm:spPr/>
    </dgm:pt>
    <dgm:pt modelId="{A4B267EB-336E-4F7A-9C46-70B2575933FA}" type="pres">
      <dgm:prSet presAssocID="{746B9AF6-1FCD-4733-BDBD-E62C25F1AB54}" presName="textRect" presStyleLbl="revTx" presStyleIdx="1" presStyleCnt="2" custScaleX="81319" custScaleY="159109" custLinFactNeighborX="-18991" custLinFactNeighborY="43036">
        <dgm:presLayoutVars>
          <dgm:chMax val="1"/>
          <dgm:chPref val="1"/>
        </dgm:presLayoutVars>
      </dgm:prSet>
      <dgm:spPr/>
    </dgm:pt>
  </dgm:ptLst>
  <dgm:cxnLst>
    <dgm:cxn modelId="{1F12D208-F96B-4D59-981A-B7F7159CDDA2}" type="presOf" srcId="{7F34BF71-82D9-4A58-88C2-B804CD9D176D}" destId="{7F539A9D-ADD5-45F2-9117-1DC35C8E56D1}" srcOrd="0" destOrd="0" presId="urn:microsoft.com/office/officeart/2018/2/layout/IconLabelList"/>
    <dgm:cxn modelId="{D33BD30E-E29A-4324-A7B0-38F51BE6DE75}" srcId="{7F34BF71-82D9-4A58-88C2-B804CD9D176D}" destId="{746B9AF6-1FCD-4733-BDBD-E62C25F1AB54}" srcOrd="1" destOrd="0" parTransId="{4921F3F7-9766-47F3-8D2D-7C0C9D163255}" sibTransId="{156CF011-30C5-4419-9546-D8E787E00AB7}"/>
    <dgm:cxn modelId="{C4BCB16A-B1EB-46B5-828A-45198A633050}" type="presOf" srcId="{746B9AF6-1FCD-4733-BDBD-E62C25F1AB54}" destId="{A4B267EB-336E-4F7A-9C46-70B2575933FA}" srcOrd="0" destOrd="0" presId="urn:microsoft.com/office/officeart/2018/2/layout/IconLabelList"/>
    <dgm:cxn modelId="{01530280-C882-465C-A6B8-693E51367F44}" srcId="{7F34BF71-82D9-4A58-88C2-B804CD9D176D}" destId="{8A90000B-341C-4B8F-A1BD-BAFBD9B47838}" srcOrd="0" destOrd="0" parTransId="{53ECE007-F245-4BA5-8D19-1A987FE8DB0A}" sibTransId="{6EA0FCDD-557E-4225-B702-4080822FBBCE}"/>
    <dgm:cxn modelId="{661FB4C1-D9E8-42AA-B063-BB25A8640BF9}" type="presOf" srcId="{8A90000B-341C-4B8F-A1BD-BAFBD9B47838}" destId="{102F96E1-3DFC-49FC-8043-06EC04130972}" srcOrd="0" destOrd="0" presId="urn:microsoft.com/office/officeart/2018/2/layout/IconLabelList"/>
    <dgm:cxn modelId="{2EBD0CD5-920C-46D1-8029-E9B03983DE57}" type="presParOf" srcId="{7F539A9D-ADD5-45F2-9117-1DC35C8E56D1}" destId="{EB2BBD9B-647D-42C0-A3C5-8CF47A892096}" srcOrd="0" destOrd="0" presId="urn:microsoft.com/office/officeart/2018/2/layout/IconLabelList"/>
    <dgm:cxn modelId="{A225D66D-0894-41B8-94DE-1D36B538452A}" type="presParOf" srcId="{EB2BBD9B-647D-42C0-A3C5-8CF47A892096}" destId="{5F617EF7-E87B-4813-B6FF-D735A8B9914D}" srcOrd="0" destOrd="0" presId="urn:microsoft.com/office/officeart/2018/2/layout/IconLabelList"/>
    <dgm:cxn modelId="{AD79ABC6-3E56-43F5-A13F-F4D002669387}" type="presParOf" srcId="{EB2BBD9B-647D-42C0-A3C5-8CF47A892096}" destId="{2805422B-6107-4972-827F-81C427BB3FB3}" srcOrd="1" destOrd="0" presId="urn:microsoft.com/office/officeart/2018/2/layout/IconLabelList"/>
    <dgm:cxn modelId="{78F76C55-6058-48D4-8BDD-7DC2CE4AC0FA}" type="presParOf" srcId="{EB2BBD9B-647D-42C0-A3C5-8CF47A892096}" destId="{102F96E1-3DFC-49FC-8043-06EC04130972}" srcOrd="2" destOrd="0" presId="urn:microsoft.com/office/officeart/2018/2/layout/IconLabelList"/>
    <dgm:cxn modelId="{10B3B7E6-6ECA-4D25-A0D0-8D3C4C9D43E1}" type="presParOf" srcId="{7F539A9D-ADD5-45F2-9117-1DC35C8E56D1}" destId="{7D7A69A1-C3C2-4B26-9424-446AADD78F08}" srcOrd="1" destOrd="0" presId="urn:microsoft.com/office/officeart/2018/2/layout/IconLabelList"/>
    <dgm:cxn modelId="{3E3CE952-3BA3-4DB7-8152-AD7A12442994}" type="presParOf" srcId="{7F539A9D-ADD5-45F2-9117-1DC35C8E56D1}" destId="{ADB02034-41BC-4D7E-8104-860F3F9FAB58}" srcOrd="2" destOrd="0" presId="urn:microsoft.com/office/officeart/2018/2/layout/IconLabelList"/>
    <dgm:cxn modelId="{F0F78040-F83F-4D86-82DC-D320B69D2128}" type="presParOf" srcId="{ADB02034-41BC-4D7E-8104-860F3F9FAB58}" destId="{8FBDDF9D-4586-4A99-945C-91927CD48D57}" srcOrd="0" destOrd="0" presId="urn:microsoft.com/office/officeart/2018/2/layout/IconLabelList"/>
    <dgm:cxn modelId="{7530CAB5-F505-4DB4-99DC-11AE8AC47A5F}" type="presParOf" srcId="{ADB02034-41BC-4D7E-8104-860F3F9FAB58}" destId="{20AA234B-7FEC-4654-B66B-FB10E83D5FCD}" srcOrd="1" destOrd="0" presId="urn:microsoft.com/office/officeart/2018/2/layout/IconLabelList"/>
    <dgm:cxn modelId="{9F5C4F69-059A-4B77-A219-21DADC7B5C60}" type="presParOf" srcId="{ADB02034-41BC-4D7E-8104-860F3F9FAB58}" destId="{A4B267EB-336E-4F7A-9C46-70B2575933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17EF7-E87B-4813-B6FF-D735A8B9914D}">
      <dsp:nvSpPr>
        <dsp:cNvPr id="0" name=""/>
        <dsp:cNvSpPr/>
      </dsp:nvSpPr>
      <dsp:spPr>
        <a:xfrm>
          <a:off x="785800" y="337086"/>
          <a:ext cx="1270687" cy="1270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F96E1-3DFC-49FC-8043-06EC04130972}">
      <dsp:nvSpPr>
        <dsp:cNvPr id="0" name=""/>
        <dsp:cNvSpPr/>
      </dsp:nvSpPr>
      <dsp:spPr>
        <a:xfrm>
          <a:off x="0" y="1884233"/>
          <a:ext cx="2823750" cy="741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/>
            <a:t>High Margin Tier (&gt;10%):</a:t>
          </a:r>
          <a:r>
            <a:rPr lang="en-ZA" sz="1200" kern="1200" dirty="0"/>
            <a:t> These vehicles are our most efficient assets and should be the focus of inventory expansion.</a:t>
          </a:r>
          <a:endParaRPr lang="en-US" sz="1200" kern="1200" dirty="0"/>
        </a:p>
      </dsp:txBody>
      <dsp:txXfrm>
        <a:off x="0" y="1884233"/>
        <a:ext cx="2823750" cy="741528"/>
      </dsp:txXfrm>
    </dsp:sp>
    <dsp:sp modelId="{8FBDDF9D-4586-4A99-945C-91927CD48D57}">
      <dsp:nvSpPr>
        <dsp:cNvPr id="0" name=""/>
        <dsp:cNvSpPr/>
      </dsp:nvSpPr>
      <dsp:spPr>
        <a:xfrm>
          <a:off x="3504615" y="319238"/>
          <a:ext cx="1270687" cy="1270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267EB-336E-4F7A-9C46-70B2575933FA}">
      <dsp:nvSpPr>
        <dsp:cNvPr id="0" name=""/>
        <dsp:cNvSpPr/>
      </dsp:nvSpPr>
      <dsp:spPr>
        <a:xfrm>
          <a:off x="3054669" y="1881394"/>
          <a:ext cx="2296245" cy="1145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/>
            <a:t>Low Margin Tier (&lt;5%):</a:t>
          </a:r>
          <a:r>
            <a:rPr lang="en-ZA" sz="1200" kern="1200" dirty="0"/>
            <a:t> Requires optimized pricing or promotional strategies to increase turnover and clear storage space.</a:t>
          </a:r>
          <a:endParaRPr lang="en-US" sz="1200" kern="1200" dirty="0"/>
        </a:p>
      </dsp:txBody>
      <dsp:txXfrm>
        <a:off x="3054669" y="1881394"/>
        <a:ext cx="2296245" cy="1145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12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02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9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89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9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79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4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68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3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7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9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E29A494-4D45-EA43-B43E-FDB6A9AA3C66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BA497-6E77-3948-BAF3-45F55E1B8F3E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66060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9867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EB33D-A7BD-D673-EE9D-DDF8C47C1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9697" y="1949051"/>
            <a:ext cx="5644108" cy="4056638"/>
          </a:xfrm>
        </p:spPr>
        <p:txBody>
          <a:bodyPr>
            <a:normAutofit/>
          </a:bodyPr>
          <a:lstStyle/>
          <a:p>
            <a:r>
              <a:rPr lang="en-US" sz="6600"/>
              <a:t>Presented By Siphiwosabo Ndlovu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A7D8ED-4DB6-46C0-AE81-24DA0AAF9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6204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C12349-62E6-4BD7-9794-8785CD02D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3" y="0"/>
            <a:ext cx="369012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DE8FD-634B-88C8-F1AC-3DF6E5288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490" y="1949051"/>
            <a:ext cx="3002750" cy="2959899"/>
          </a:xfrm>
        </p:spPr>
        <p:txBody>
          <a:bodyPr anchor="ctr">
            <a:normAutofit/>
          </a:bodyPr>
          <a:lstStyle/>
          <a:p>
            <a:pPr algn="ctr"/>
            <a:r>
              <a:rPr lang="en-US" sz="2800"/>
              <a:t>Car Sales </a:t>
            </a:r>
            <a:r>
              <a:rPr lang="en-ZA" sz="2800"/>
              <a:t>Performance &amp; Strategic Analysis</a:t>
            </a:r>
            <a:endParaRPr lang="en-US" sz="2800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CDD5A4AA-8515-49AE-8C6C-9CF6E14C9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431831" y="1949051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C05E93-9EA7-4035-A9CB-856957F54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8CC278-7FC1-473F-9200-5ECE81A2B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CDAA77-E643-4455-8F0D-C3D925B2E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B2654F-3E68-44D7-A592-E8D6FCF72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7A8F27-4D42-4E93-9612-A76626E49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4F09F6-99F4-44FC-8E9E-DB0D7210B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D544A-D980-114C-D185-AF8DEA56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640828" cy="1077229"/>
          </a:xfrm>
        </p:spPr>
        <p:txBody>
          <a:bodyPr>
            <a:normAutofit/>
          </a:bodyPr>
          <a:lstStyle/>
          <a:p>
            <a:pPr algn="l"/>
            <a:r>
              <a:rPr lang="en-ZA" b="1" dirty="0"/>
              <a:t>Project Objectives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1C599-B37B-2855-E1A4-C9FCBD36A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640829" cy="3997828"/>
          </a:xfrm>
        </p:spPr>
        <p:txBody>
          <a:bodyPr>
            <a:normAutofit/>
          </a:bodyPr>
          <a:lstStyle/>
          <a:p>
            <a:pPr fontAlgn="base"/>
            <a:r>
              <a:rPr lang="en-US" sz="1800" dirty="0"/>
              <a:t>-</a:t>
            </a:r>
            <a:r>
              <a:rPr lang="en-ZA" sz="1800" dirty="0"/>
              <a:t>Identify top revenue-generating makes and models.</a:t>
            </a:r>
          </a:p>
          <a:p>
            <a:pPr fontAlgn="base"/>
            <a:r>
              <a:rPr lang="en-ZA" sz="1800" dirty="0" err="1"/>
              <a:t>Analyze</a:t>
            </a:r>
            <a:r>
              <a:rPr lang="en-ZA" sz="1800" dirty="0"/>
              <a:t> the relationship between pricing, mileage, and vehicle age.</a:t>
            </a:r>
          </a:p>
          <a:p>
            <a:pPr fontAlgn="base"/>
            <a:r>
              <a:rPr lang="en-ZA" sz="1800" dirty="0"/>
              <a:t>Evaluate regional performance and emerging customer preferences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EC6488-1B26-4241-805F-E9A6AE383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206" y="641225"/>
            <a:ext cx="4330179" cy="55702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a label&#10;&#10;AI-generated content may be incorrect.">
            <a:extLst>
              <a:ext uri="{FF2B5EF4-FFF2-40B4-BE49-F238E27FC236}">
                <a16:creationId xmlns:a16="http://schemas.microsoft.com/office/drawing/2014/main" id="{6D0300B7-BFEE-B5FA-E1E7-B20A11593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703" y="2950139"/>
            <a:ext cx="3690922" cy="950412"/>
          </a:xfrm>
          <a:prstGeom prst="rect">
            <a:avLst/>
          </a:prstGeom>
          <a:ln>
            <a:noFill/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2FB948A-2BB9-4C6C-AF1B-65585E5C3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0325" y="887362"/>
            <a:ext cx="3840578" cy="5072946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DDA0DD-CBE7-4893-827C-CC376A232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4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96AFA90-1DF2-427D-B002-A09D93A1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5602A8-6E8C-46E5-8FDD-2BC227550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2E129B-3512-41A6-94F1-4B4FEA817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1C00A1-D917-4D03-B713-9881557CE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A3F0C2-72FC-4945-8B22-3BE47B397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10D66C-3847-4B32-B505-01B23358B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2DABC2-CACF-7F66-5501-F369BC9DF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445" y="808056"/>
            <a:ext cx="2668106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600"/>
              <a:t>Revenue Drivers by Make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22536-CB7D-8DA8-ACD9-28BBAE9C234C}"/>
              </a:ext>
            </a:extLst>
          </p:cNvPr>
          <p:cNvSpPr txBox="1"/>
          <p:nvPr/>
        </p:nvSpPr>
        <p:spPr>
          <a:xfrm>
            <a:off x="1964444" y="2052116"/>
            <a:ext cx="2664217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 fontAlgn="base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 b="1" dirty="0"/>
              <a:t>Key Insight:</a:t>
            </a:r>
            <a:r>
              <a:rPr lang="en-US" sz="1600" dirty="0"/>
              <a:t> Specific brands represent a disproportionate share of total revenue.</a:t>
            </a:r>
          </a:p>
          <a:p>
            <a:pPr defTabSz="914400" fontAlgn="base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 b="1" dirty="0"/>
              <a:t>Strategy:</a:t>
            </a:r>
            <a:r>
              <a:rPr lang="en-US" sz="1600" dirty="0"/>
              <a:t> Prioritize inventory procurement for these high-performing makes to ensure consistent cash flow.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3DB4DB-4F6A-4E8D-B9A3-74E5A8453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4647" y="0"/>
            <a:ext cx="594354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with blue and purple bars&#10;&#10;AI-generated content may be incorrect.">
            <a:extLst>
              <a:ext uri="{FF2B5EF4-FFF2-40B4-BE49-F238E27FC236}">
                <a16:creationId xmlns:a16="http://schemas.microsoft.com/office/drawing/2014/main" id="{413A1825-7612-A14F-ED67-F6B2BF016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757967" y="611899"/>
            <a:ext cx="5305220" cy="2360822"/>
          </a:xfrm>
          <a:prstGeom prst="rect">
            <a:avLst/>
          </a:prstGeom>
          <a:ln w="12700">
            <a:noFill/>
          </a:ln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31FCBDC-FCD6-46FA-989A-9B7496896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2490" y="232459"/>
            <a:ext cx="5446447" cy="3114340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ECEA5C-7F4D-C13C-010E-3D044E4C51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967" y="4108894"/>
            <a:ext cx="5305219" cy="1896616"/>
          </a:xfrm>
          <a:prstGeom prst="rect">
            <a:avLst/>
          </a:prstGeom>
          <a:ln w="12700">
            <a:noFill/>
          </a:ln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66EB2AB-6794-4C3C-A92D-4876AB0BE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2490" y="3500835"/>
            <a:ext cx="5446447" cy="3114340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4BD4E6-C736-4064-AF1F-3C5B402E1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9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571C-249D-7FDB-DECF-E6D80EB1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/>
              <a:t>Profitability &amp; Inventory Tiers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E592FF9-731A-4B68-8C17-0C4458BE41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4778728"/>
              </p:ext>
            </p:extLst>
          </p:nvPr>
        </p:nvGraphicFramePr>
        <p:xfrm>
          <a:off x="860716" y="1566041"/>
          <a:ext cx="6160194" cy="3026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9BCDA3E-F7A5-7E20-A51F-07EEE131C7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812" y="3521219"/>
            <a:ext cx="5524786" cy="3297402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plastic"/>
        </p:spPr>
      </p:pic>
    </p:spTree>
    <p:extLst>
      <p:ext uri="{BB962C8B-B14F-4D97-AF65-F5344CB8AC3E}">
        <p14:creationId xmlns:p14="http://schemas.microsoft.com/office/powerpoint/2010/main" val="375308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CD557CE-2AB8-44E1-AABA-A21D2274F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8DCB6E5-A344-4A17-A353-EC4D71E6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D82F4F2-6117-4CCD-94A7-4AFD603EC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CCA9FB2-FFC7-4B6D-8E30-9D2CC14E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F6D6F6-E7F9-4521-BD22-74A61D8ED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566E74-1425-46AC-885D-D2DAEE365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B46DF-ADF7-C395-757E-B200FEAF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>
            <a:normAutofit/>
          </a:bodyPr>
          <a:lstStyle/>
          <a:p>
            <a:pPr algn="l"/>
            <a:r>
              <a:rPr lang="en-ZA" b="1" dirty="0"/>
              <a:t>Regional Sales Performance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98940-FF48-4640-754C-C52D16C55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317493" cy="3997828"/>
          </a:xfrm>
        </p:spPr>
        <p:txBody>
          <a:bodyPr>
            <a:normAutofit/>
          </a:bodyPr>
          <a:lstStyle/>
          <a:p>
            <a:pPr fontAlgn="base"/>
            <a:r>
              <a:rPr lang="en-ZA" sz="1800" b="1" dirty="0"/>
              <a:t>Top Performer:</a:t>
            </a:r>
            <a:r>
              <a:rPr lang="en-ZA" sz="1800" dirty="0"/>
              <a:t> California (CA) leads in total units sold.</a:t>
            </a:r>
          </a:p>
          <a:p>
            <a:r>
              <a:rPr lang="en-ZA" sz="1800" b="1" dirty="0"/>
              <a:t>Recommendation:</a:t>
            </a:r>
            <a:r>
              <a:rPr lang="en-ZA" sz="1800" dirty="0"/>
              <a:t> Focus dealership network expansion in high-volume hubs to capture existing market demand.</a:t>
            </a:r>
            <a:endParaRPr lang="en-US" sz="1800" dirty="0"/>
          </a:p>
        </p:txBody>
      </p:sp>
      <p:pic>
        <p:nvPicPr>
          <p:cNvPr id="5" name="Picture 4" descr="A map of the world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88A44D14-7388-5A95-CE98-1587EDC17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766" y="1605259"/>
            <a:ext cx="4651619" cy="3648144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6858379-D070-40E4-8A3D-F29E90C5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24A1565-B7E1-4C59-84A2-5831F1160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8B134C-47B2-49B8-B810-2931B20EA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550BD34-8417-42DB-BEA7-96B1E4156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E04A24D-ECF7-4024-BAC2-981BA69C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C3D135-9831-45A9-8FBE-2A2548C8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375ABF-52E0-4C78-B2CF-0A949D7D8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06531-1EA5-6061-058E-8EAA0729F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969504" cy="1077229"/>
          </a:xfrm>
        </p:spPr>
        <p:txBody>
          <a:bodyPr>
            <a:normAutofit/>
          </a:bodyPr>
          <a:lstStyle/>
          <a:p>
            <a:pPr algn="l"/>
            <a:r>
              <a:rPr lang="en-ZA" sz="2100" b="1"/>
              <a:t>Price vs. Mileage Relationship</a:t>
            </a:r>
            <a:br>
              <a:rPr lang="en-ZA" sz="2100" b="1"/>
            </a:br>
            <a:endParaRPr lang="en-US" sz="2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9AC8-3531-14B2-E98C-A8C1A020A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969505" cy="3997828"/>
          </a:xfrm>
        </p:spPr>
        <p:txBody>
          <a:bodyPr>
            <a:normAutofit/>
          </a:bodyPr>
          <a:lstStyle/>
          <a:p>
            <a:pPr fontAlgn="base"/>
            <a:r>
              <a:rPr lang="en-ZA" sz="1800" b="1"/>
              <a:t>Trend:</a:t>
            </a:r>
            <a:r>
              <a:rPr lang="en-ZA" sz="1800"/>
              <a:t> There is a clear correlation between lower mileage and higher profit margins.</a:t>
            </a:r>
          </a:p>
          <a:p>
            <a:r>
              <a:rPr lang="en-ZA" sz="1800" b="1"/>
              <a:t>Procurement Action:</a:t>
            </a:r>
            <a:r>
              <a:rPr lang="en-ZA" sz="1800"/>
              <a:t> Target vehicles with lower mileage within the top-performing makes to maintain high-margin stock.</a:t>
            </a:r>
            <a:endParaRPr lang="en-US" sz="1800"/>
          </a:p>
        </p:txBody>
      </p:sp>
      <p:pic>
        <p:nvPicPr>
          <p:cNvPr id="5" name="Picture 4" descr="A graph with colorful circles&#10;&#10;AI-generated content may be incorrect.">
            <a:extLst>
              <a:ext uri="{FF2B5EF4-FFF2-40B4-BE49-F238E27FC236}">
                <a16:creationId xmlns:a16="http://schemas.microsoft.com/office/drawing/2014/main" id="{392F9202-0AC5-B494-8EB1-C52F09241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768" y="2210973"/>
            <a:ext cx="3994617" cy="2436716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4BB1BDF-EAFF-49B6-ABF3-7F9B3201C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7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7E45EB-2082-42A1-A5FC-6D53F21DB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A5C072-919B-4308-A48B-96DC0CBF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F74E2F-7C51-4D72-96BA-528A50748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B61F797-14BD-476F-B569-140E96CB6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0235D8-BAC3-4440-8A9B-43D98243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F2FD5C-3192-4646-91D2-C907BDC4C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10800-7050-9AB4-0DA4-71B7AE2B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8608037" cy="1077229"/>
          </a:xfrm>
        </p:spPr>
        <p:txBody>
          <a:bodyPr>
            <a:normAutofit/>
          </a:bodyPr>
          <a:lstStyle/>
          <a:p>
            <a:pPr algn="l"/>
            <a:r>
              <a:rPr lang="en-ZA" b="1" dirty="0"/>
              <a:t> Strategic Recommendations</a:t>
            </a:r>
            <a:br>
              <a:rPr lang="en-ZA" b="1" dirty="0"/>
            </a:br>
            <a:endParaRPr lang="en-US"/>
          </a:p>
        </p:txBody>
      </p:sp>
      <p:pic>
        <p:nvPicPr>
          <p:cNvPr id="7" name="Graphic 6" descr="Bar Graph with Upward Trend">
            <a:extLst>
              <a:ext uri="{FF2B5EF4-FFF2-40B4-BE49-F238E27FC236}">
                <a16:creationId xmlns:a16="http://schemas.microsoft.com/office/drawing/2014/main" id="{A054FFBE-90C4-3489-7152-E993667BE0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6884" y="2364159"/>
            <a:ext cx="3364051" cy="3364051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9BA76-C8A5-34DA-58DF-13C5AFC7C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6175" y="2052116"/>
            <a:ext cx="3289986" cy="3997828"/>
          </a:xfrm>
        </p:spPr>
        <p:txBody>
          <a:bodyPr>
            <a:normAutofit/>
          </a:bodyPr>
          <a:lstStyle/>
          <a:p>
            <a:pPr fontAlgn="base">
              <a:lnSpc>
                <a:spcPct val="110000"/>
              </a:lnSpc>
            </a:pPr>
            <a:r>
              <a:rPr lang="en-ZA" sz="1700" b="1"/>
              <a:t>Inventory Optimization:</a:t>
            </a:r>
            <a:r>
              <a:rPr lang="en-ZA" sz="1700"/>
              <a:t> Shift procurement focus toward high-margin performance tiers.</a:t>
            </a:r>
          </a:p>
          <a:p>
            <a:pPr fontAlgn="base">
              <a:lnSpc>
                <a:spcPct val="110000"/>
              </a:lnSpc>
            </a:pPr>
            <a:r>
              <a:rPr lang="en-ZA" sz="1700" b="1"/>
              <a:t>Regional Strategy:</a:t>
            </a:r>
            <a:r>
              <a:rPr lang="en-ZA" sz="1700"/>
              <a:t> Expand footprint in high-volume regions like CA.</a:t>
            </a:r>
          </a:p>
          <a:p>
            <a:pPr fontAlgn="base">
              <a:lnSpc>
                <a:spcPct val="110000"/>
              </a:lnSpc>
            </a:pPr>
            <a:r>
              <a:rPr lang="en-ZA" sz="1700" b="1"/>
              <a:t>Continuous Monitoring:</a:t>
            </a:r>
            <a:r>
              <a:rPr lang="en-ZA" sz="1700"/>
              <a:t> Utilize the interactive Looker Studio dashboard for real-time tracking of sales trends and pricing.</a:t>
            </a:r>
          </a:p>
          <a:p>
            <a:pPr>
              <a:lnSpc>
                <a:spcPct val="110000"/>
              </a:lnSpc>
            </a:pPr>
            <a:endParaRPr lang="en-US" sz="17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64258-BA63-4452-B6A7-27E3497D9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86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33</TotalTime>
  <Words>230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MS Shell Dlg 2</vt:lpstr>
      <vt:lpstr>Wingdings</vt:lpstr>
      <vt:lpstr>Wingdings 3</vt:lpstr>
      <vt:lpstr>Madison</vt:lpstr>
      <vt:lpstr>Presented By Siphiwosabo Ndlovu</vt:lpstr>
      <vt:lpstr>Project Objectives</vt:lpstr>
      <vt:lpstr>Revenue Drivers by Make</vt:lpstr>
      <vt:lpstr>Profitability &amp; Inventory Tiers</vt:lpstr>
      <vt:lpstr>Regional Sales Performance</vt:lpstr>
      <vt:lpstr>Price vs. Mileage Relationship </vt:lpstr>
      <vt:lpstr> Strategic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Sabo Ndlovu</dc:creator>
  <cp:lastModifiedBy>Sabo Ndlovu</cp:lastModifiedBy>
  <cp:revision>3</cp:revision>
  <dcterms:created xsi:type="dcterms:W3CDTF">2026-04-26T17:03:25Z</dcterms:created>
  <dcterms:modified xsi:type="dcterms:W3CDTF">2026-04-26T17:36:57Z</dcterms:modified>
</cp:coreProperties>
</file>